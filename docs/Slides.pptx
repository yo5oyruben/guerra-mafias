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B46B3-8D63-F8C6-F604-292F43327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C10029-F7DE-4439-A86C-5AA27FC601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2041B2-2962-334F-02DF-B81B8EDA7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7C2EB-66C6-4FDE-ADDA-051ACF7117BE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637004-8DEB-6208-658D-E6BCEFBB7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DF15AE-9188-A302-61A1-516AAF50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31924-5F4D-4CBB-BE9B-51F22CA820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637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1E12F-A0E5-E754-6503-72F9D485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2BCEA3-6668-9AC6-47A9-84E463AD2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A62939-5150-CCA3-B28C-7238EAAC9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7C2EB-66C6-4FDE-ADDA-051ACF7117BE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2A4116-6BE5-A21F-94B7-2CB5209B2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67E38F-29BF-7078-4007-C446526C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31924-5F4D-4CBB-BE9B-51F22CA820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368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C3F1D-B804-4CCB-68B0-E96A5F323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67FC60-4E5E-5069-BB20-A9BBA5DBC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9F1C49-43ED-D7A9-6680-61A11F989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7C2EB-66C6-4FDE-ADDA-051ACF7117BE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C52469-7D2F-9FDC-3CC7-1785DBB6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6516CB-493D-53B2-2593-5F70F9408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31924-5F4D-4CBB-BE9B-51F22CA820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5198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F61F0-3513-3AB3-DED1-C474B5B99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DF5D9D-D70F-9E45-8FAC-28404FF6EC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EEDAF5-8752-C826-9A8C-6EE5115DE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3FDBB3-54BF-30F3-98C0-D2FE6BE70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7C2EB-66C6-4FDE-ADDA-051ACF7117BE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8713A3-6D13-9EE2-A1B4-7D20E5E77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642A1A-27BE-C3BA-E6AB-5BC19526F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31924-5F4D-4CBB-BE9B-51F22CA820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9229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4A940-9544-A75E-B04A-7811FC9C9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77F6A7-FCB0-4575-8EB8-FA5B816F3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20F3AA-ECAE-91C7-4511-6C4FBFCD9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BD40935-8E9E-E261-A0E9-D8F4F1D9E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B579B36-82AE-0205-B312-68714CFAF6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F428C9B-BD30-BFDF-EDA3-FC3833E2C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7C2EB-66C6-4FDE-ADDA-051ACF7117BE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551E778-D5D6-8FCE-7307-9AA1E157C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43903CC-72D0-27F5-5D4A-B24A8892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31924-5F4D-4CBB-BE9B-51F22CA820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6201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76304-5CF0-6FEF-5946-347774FBC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09055F2-3145-6DB6-EE04-93B29C310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7C2EB-66C6-4FDE-ADDA-051ACF7117BE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E16542-2A8D-DE0C-8836-479A55CC3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D87159F-A530-B8F3-8CAE-44D7D2CB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31924-5F4D-4CBB-BE9B-51F22CA820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0141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6D0ADA6-D195-EB06-2E3A-0D69EFDE9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7C2EB-66C6-4FDE-ADDA-051ACF7117BE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8FB33BE-A5B1-28C9-9D25-8C915FF5B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6CAC74-57CE-D4BD-0988-CDC3D7C0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31924-5F4D-4CBB-BE9B-51F22CA820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0495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81C60-C171-B7D6-A53E-B3639489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645419-D226-6D15-84A9-A09967FB9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C83FE2-FB9D-FCF9-77A2-632C7072B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A70110-7AA9-2AE3-69C2-7F8E5839E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7C2EB-66C6-4FDE-ADDA-051ACF7117BE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E4947F-B8F8-2B15-FFAB-F128EBA80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22CDE5-D839-DC80-1BF0-5704691B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31924-5F4D-4CBB-BE9B-51F22CA820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8602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3B54B-6BCE-ABDE-20F2-680DCD76B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243F485-4365-1A28-C261-E3BCC02D43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371669-CC96-1462-4A3C-29D25A4ED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ED39F-75FC-1A9D-1C54-655A86FC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7C2EB-66C6-4FDE-ADDA-051ACF7117BE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7A69FE-D931-29C7-4BE2-8FB895618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456B00-3B7D-8146-D099-6543E8B42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31924-5F4D-4CBB-BE9B-51F22CA820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5809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15C44-1439-FB46-35DA-28EDECA4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6191ED-C942-38F8-481B-A2ADC1375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893588-1109-4BB4-0E35-8D42583D9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7C2EB-66C6-4FDE-ADDA-051ACF7117BE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AB907E-6A55-1B83-3802-B888249B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AD1465-D749-4C81-9B09-3FCAA8725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31924-5F4D-4CBB-BE9B-51F22CA820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0004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B69361C-69FE-44FC-89FD-861957839B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9E41A0-8180-C5F6-60D2-869AE4237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DDFC49-21D4-B34E-D6A1-C26789B6A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7C2EB-66C6-4FDE-ADDA-051ACF7117BE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367653-9F69-306D-F8E7-D0705A86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14C555-4329-8E9D-76A8-A02E7095E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31924-5F4D-4CBB-BE9B-51F22CA820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0389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78AB723-00CE-8F7F-C156-ECAA6713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82FF-7C85-354A-ADED-CEBDD5686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5AADFC-3F93-2CE1-85A3-D27DD7058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97C2EB-66C6-4FDE-ADDA-051ACF7117BE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71B788-A013-59EA-7AE1-2111E9D31E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FF4A45-ABAC-74D5-7723-0CFBF4633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231924-5F4D-4CBB-BE9B-51F22CA820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9292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ired.it/play/televisione/2015/08/29/narcos-serie-tv/" TargetMode="External"/><Relationship Id="rId3" Type="http://schemas.openxmlformats.org/officeDocument/2006/relationships/image" Target="../media/image2.jpg"/><Relationship Id="rId7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7.jpeg"/><Relationship Id="rId4" Type="http://schemas.openxmlformats.org/officeDocument/2006/relationships/hyperlink" Target="https://porestarcontigo.blogspot.com/2019/07/las-50-mejores-peliculas-en-mi-opinion.html" TargetMode="External"/><Relationship Id="rId9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22ACA4-4BA9-4E25-43A6-8BF7530A9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0DD1E-3479-54E7-6996-2D8CC71DB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697" y="2541820"/>
            <a:ext cx="7481163" cy="878680"/>
          </a:xfrm>
        </p:spPr>
        <p:txBody>
          <a:bodyPr>
            <a:noAutofit/>
          </a:bodyPr>
          <a:lstStyle/>
          <a:p>
            <a:r>
              <a:rPr lang="es-ES" dirty="0">
                <a:latin typeface="Algerian" panose="04020705040A02060702" pitchFamily="82" charset="0"/>
              </a:rPr>
              <a:t>Guerra de Mafias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B2BE59-88CC-AC71-A02D-8916C00C3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697" y="3608517"/>
            <a:ext cx="7425602" cy="620400"/>
          </a:xfrm>
        </p:spPr>
        <p:txBody>
          <a:bodyPr>
            <a:noAutofit/>
          </a:bodyPr>
          <a:lstStyle/>
          <a:p>
            <a:r>
              <a:rPr lang="es-ES" sz="2000" dirty="0"/>
              <a:t>Modelización de la dinámica evolutiva de poblaciones interdependientes, aplicada al caso de mafias rivales</a:t>
            </a:r>
          </a:p>
        </p:txBody>
      </p:sp>
      <p:pic>
        <p:nvPicPr>
          <p:cNvPr id="1028" name="Picture 4" descr="La Cosa Nostra - Organizaciones criminales más peligrosas - LISA Institute">
            <a:extLst>
              <a:ext uri="{FF2B5EF4-FFF2-40B4-BE49-F238E27FC236}">
                <a16:creationId xmlns:a16="http://schemas.microsoft.com/office/drawing/2014/main" id="{C73C28AB-8152-152A-3406-6440E3505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17827"/>
          <a:stretch>
            <a:fillRect/>
          </a:stretch>
        </p:blipFill>
        <p:spPr bwMode="auto">
          <a:xfrm>
            <a:off x="3649321" y="3"/>
            <a:ext cx="4609359" cy="2130473"/>
          </a:xfrm>
          <a:custGeom>
            <a:avLst/>
            <a:gdLst/>
            <a:ahLst/>
            <a:cxnLst/>
            <a:rect l="l" t="t" r="r" b="b"/>
            <a:pathLst>
              <a:path w="4609359" h="2130473">
                <a:moveTo>
                  <a:pt x="986689" y="0"/>
                </a:moveTo>
                <a:lnTo>
                  <a:pt x="4609359" y="0"/>
                </a:lnTo>
                <a:lnTo>
                  <a:pt x="3622670" y="2130473"/>
                </a:lnTo>
                <a:lnTo>
                  <a:pt x="0" y="213047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8B96322-4538-5294-0D0F-17E43C949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6631" r="2" b="23360"/>
          <a:stretch>
            <a:fillRect/>
          </a:stretch>
        </p:blipFill>
        <p:spPr>
          <a:xfrm>
            <a:off x="20" y="-6954"/>
            <a:ext cx="4475120" cy="2130473"/>
          </a:xfrm>
          <a:custGeom>
            <a:avLst/>
            <a:gdLst/>
            <a:ahLst/>
            <a:cxnLst/>
            <a:rect l="l" t="t" r="r" b="b"/>
            <a:pathLst>
              <a:path w="4475140" h="2130473">
                <a:moveTo>
                  <a:pt x="0" y="0"/>
                </a:moveTo>
                <a:lnTo>
                  <a:pt x="1074821" y="0"/>
                </a:lnTo>
                <a:lnTo>
                  <a:pt x="1074821" y="239"/>
                </a:lnTo>
                <a:lnTo>
                  <a:pt x="4475140" y="239"/>
                </a:lnTo>
                <a:lnTo>
                  <a:pt x="3488563" y="2130473"/>
                </a:lnTo>
                <a:lnTo>
                  <a:pt x="0" y="2130473"/>
                </a:lnTo>
                <a:close/>
              </a:path>
            </a:pathLst>
          </a:custGeom>
        </p:spPr>
      </p:pic>
      <p:pic>
        <p:nvPicPr>
          <p:cNvPr id="1026" name="Picture 2" descr="Latin Kings - Organizaciones criminales más peligrosas - LISA Institute">
            <a:extLst>
              <a:ext uri="{FF2B5EF4-FFF2-40B4-BE49-F238E27FC236}">
                <a16:creationId xmlns:a16="http://schemas.microsoft.com/office/drawing/2014/main" id="{3F6801D2-134E-FDAB-5915-28CD346D4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20444"/>
          <a:stretch>
            <a:fillRect/>
          </a:stretch>
        </p:blipFill>
        <p:spPr bwMode="auto">
          <a:xfrm>
            <a:off x="7431341" y="1"/>
            <a:ext cx="4760659" cy="2130473"/>
          </a:xfrm>
          <a:custGeom>
            <a:avLst/>
            <a:gdLst/>
            <a:ahLst/>
            <a:cxnLst/>
            <a:rect l="l" t="t" r="r" b="b"/>
            <a:pathLst>
              <a:path w="4760659" h="2130473">
                <a:moveTo>
                  <a:pt x="986689" y="0"/>
                </a:moveTo>
                <a:lnTo>
                  <a:pt x="4760659" y="0"/>
                </a:lnTo>
                <a:lnTo>
                  <a:pt x="4760659" y="2130473"/>
                </a:lnTo>
                <a:lnTo>
                  <a:pt x="0" y="213047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eaky Blinders: A Review | montydodgerspeaks">
            <a:extLst>
              <a:ext uri="{FF2B5EF4-FFF2-40B4-BE49-F238E27FC236}">
                <a16:creationId xmlns:a16="http://schemas.microsoft.com/office/drawing/2014/main" id="{31081C27-C139-CC28-64A5-3CD550268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21" r="1" b="17005"/>
          <a:stretch>
            <a:fillRect/>
          </a:stretch>
        </p:blipFill>
        <p:spPr bwMode="auto">
          <a:xfrm>
            <a:off x="7716860" y="4682838"/>
            <a:ext cx="4475140" cy="2175161"/>
          </a:xfrm>
          <a:custGeom>
            <a:avLst/>
            <a:gdLst/>
            <a:ahLst/>
            <a:cxnLst/>
            <a:rect l="l" t="t" r="r" b="b"/>
            <a:pathLst>
              <a:path w="4475140" h="2174680">
                <a:moveTo>
                  <a:pt x="1006941" y="0"/>
                </a:moveTo>
                <a:lnTo>
                  <a:pt x="4475140" y="0"/>
                </a:lnTo>
                <a:lnTo>
                  <a:pt x="4475140" y="2174680"/>
                </a:lnTo>
                <a:lnTo>
                  <a:pt x="3400319" y="2174680"/>
                </a:lnTo>
                <a:lnTo>
                  <a:pt x="3400319" y="2174202"/>
                </a:lnTo>
                <a:lnTo>
                  <a:pt x="0" y="217420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0541B9A-E05E-9379-F83F-84AFB2C6A0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t="11429" r="-1" b="2320"/>
          <a:stretch>
            <a:fillRect/>
          </a:stretch>
        </p:blipFill>
        <p:spPr>
          <a:xfrm>
            <a:off x="4039737" y="4682838"/>
            <a:ext cx="4523640" cy="2175160"/>
          </a:xfrm>
          <a:custGeom>
            <a:avLst/>
            <a:gdLst/>
            <a:ahLst/>
            <a:cxnLst/>
            <a:rect l="l" t="t" r="r" b="b"/>
            <a:pathLst>
              <a:path w="4523640" h="2175160">
                <a:moveTo>
                  <a:pt x="0" y="0"/>
                </a:moveTo>
                <a:lnTo>
                  <a:pt x="4523640" y="0"/>
                </a:lnTo>
                <a:lnTo>
                  <a:pt x="3516256" y="2175160"/>
                </a:lnTo>
                <a:lnTo>
                  <a:pt x="0" y="2175160"/>
                </a:lnTo>
                <a:lnTo>
                  <a:pt x="0" y="2174920"/>
                </a:lnTo>
                <a:lnTo>
                  <a:pt x="14159" y="2174920"/>
                </a:lnTo>
                <a:lnTo>
                  <a:pt x="1021100" y="718"/>
                </a:lnTo>
                <a:lnTo>
                  <a:pt x="0" y="718"/>
                </a:lnTo>
                <a:close/>
              </a:path>
            </a:pathLst>
          </a:custGeom>
        </p:spPr>
      </p:pic>
      <p:pic>
        <p:nvPicPr>
          <p:cNvPr id="1032" name="Picture 8" descr="Alarma policial ante la llegada de bandas latinas y pandillas a Barcelona">
            <a:extLst>
              <a:ext uri="{FF2B5EF4-FFF2-40B4-BE49-F238E27FC236}">
                <a16:creationId xmlns:a16="http://schemas.microsoft.com/office/drawing/2014/main" id="{A4C8F72A-9190-4E93-1E65-3DA504B41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93"/>
          <a:stretch>
            <a:fillRect/>
          </a:stretch>
        </p:blipFill>
        <p:spPr bwMode="auto">
          <a:xfrm>
            <a:off x="-2" y="4689793"/>
            <a:ext cx="4908824" cy="2175160"/>
          </a:xfrm>
          <a:custGeom>
            <a:avLst/>
            <a:gdLst/>
            <a:ahLst/>
            <a:cxnLst/>
            <a:rect l="l" t="t" r="r" b="b"/>
            <a:pathLst>
              <a:path w="4908824" h="2175160">
                <a:moveTo>
                  <a:pt x="0" y="0"/>
                </a:moveTo>
                <a:lnTo>
                  <a:pt x="4908824" y="0"/>
                </a:lnTo>
                <a:lnTo>
                  <a:pt x="3901440" y="2175160"/>
                </a:lnTo>
                <a:lnTo>
                  <a:pt x="0" y="217516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3B19211D-5A16-66BB-0C69-A2B2550153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99"/>
          <a:stretch>
            <a:fillRect/>
          </a:stretch>
        </p:blipFill>
        <p:spPr bwMode="auto">
          <a:xfrm>
            <a:off x="7661299" y="2363763"/>
            <a:ext cx="4527042" cy="2130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05D3579F-F02A-F4F0-0D53-7D41E1000B4F}"/>
              </a:ext>
            </a:extLst>
          </p:cNvPr>
          <p:cNvSpPr/>
          <p:nvPr/>
        </p:nvSpPr>
        <p:spPr>
          <a:xfrm>
            <a:off x="9954430" y="2981160"/>
            <a:ext cx="176417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Santiago </a:t>
            </a:r>
            <a:r>
              <a:rPr lang="es-E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badi ExtraLight" panose="020B0204020104020204" pitchFamily="34" charset="0"/>
              </a:rPr>
              <a:t>Bellod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53EDF74-7DC8-7392-13E7-213067739AB7}"/>
              </a:ext>
            </a:extLst>
          </p:cNvPr>
          <p:cNvSpPr txBox="1"/>
          <p:nvPr/>
        </p:nvSpPr>
        <p:spPr>
          <a:xfrm>
            <a:off x="8964442" y="2631983"/>
            <a:ext cx="1427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Rubén </a:t>
            </a:r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badi ExtraLight" panose="020B0204020104020204" pitchFamily="34" charset="0"/>
              </a:rPr>
              <a:t>Díaz</a:t>
            </a:r>
            <a:endParaRPr lang="es-E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badi ExtraLight" panose="020B0204020104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300381E-A7FD-3A3D-B47D-26D4009A1F99}"/>
              </a:ext>
            </a:extLst>
          </p:cNvPr>
          <p:cNvSpPr txBox="1"/>
          <p:nvPr/>
        </p:nvSpPr>
        <p:spPr>
          <a:xfrm>
            <a:off x="8563377" y="2293295"/>
            <a:ext cx="3392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ll MT" panose="02020503060305020303" pitchFamily="18" charset="0"/>
              </a:rPr>
              <a:t>Grupo 9:   </a:t>
            </a:r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Félix </a:t>
            </a:r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badi ExtraLight" panose="020B0204020104020204" pitchFamily="34" charset="0"/>
              </a:rPr>
              <a:t>Lorente-Bandrés</a:t>
            </a:r>
            <a:endParaRPr lang="es-E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badi ExtraLight" panose="020B0204020104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2D32B46-4453-82DB-9580-47CC8020CB82}"/>
              </a:ext>
            </a:extLst>
          </p:cNvPr>
          <p:cNvSpPr txBox="1"/>
          <p:nvPr/>
        </p:nvSpPr>
        <p:spPr>
          <a:xfrm>
            <a:off x="9995423" y="2631983"/>
            <a:ext cx="1960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Lucía </a:t>
            </a:r>
            <a:r>
              <a:rPr lang="es-E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badi ExtraLight" panose="020B0204020104020204" pitchFamily="34" charset="0"/>
              </a:rPr>
              <a:t>Espuelas</a:t>
            </a:r>
          </a:p>
        </p:txBody>
      </p:sp>
    </p:spTree>
    <p:extLst>
      <p:ext uri="{BB962C8B-B14F-4D97-AF65-F5344CB8AC3E}">
        <p14:creationId xmlns:p14="http://schemas.microsoft.com/office/powerpoint/2010/main" val="260584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0379E-1363-6251-8041-9814F0DEA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DC045-694C-6CD4-317C-F118C8A63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038" y="4503837"/>
            <a:ext cx="7432921" cy="878680"/>
          </a:xfrm>
        </p:spPr>
        <p:txBody>
          <a:bodyPr>
            <a:noAutofit/>
          </a:bodyPr>
          <a:lstStyle/>
          <a:p>
            <a:r>
              <a:rPr lang="es-ES" dirty="0">
                <a:latin typeface="Algerian" panose="04020705040A02060702" pitchFamily="82" charset="0"/>
              </a:rPr>
              <a:t>Guerra de Mafias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373F88-58BC-CCF5-34A3-E8DB08663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038" y="5574218"/>
            <a:ext cx="7432920" cy="620400"/>
          </a:xfrm>
        </p:spPr>
        <p:txBody>
          <a:bodyPr>
            <a:noAutofit/>
          </a:bodyPr>
          <a:lstStyle/>
          <a:p>
            <a:r>
              <a:rPr lang="es-ES" sz="2000" dirty="0"/>
              <a:t>Modelización de la dinámica evolutiva de poblaciones interdependientes, aplicada al caso de mafias rivales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2AD3AD34-237D-CD6D-1EBC-874FA440B546}"/>
              </a:ext>
            </a:extLst>
          </p:cNvPr>
          <p:cNvGrpSpPr/>
          <p:nvPr/>
        </p:nvGrpSpPr>
        <p:grpSpPr>
          <a:xfrm>
            <a:off x="7664958" y="4444957"/>
            <a:ext cx="4527042" cy="2200941"/>
            <a:chOff x="7661299" y="2293295"/>
            <a:chExt cx="4527042" cy="2200941"/>
          </a:xfrm>
        </p:grpSpPr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20413490-90F8-DD00-F3A3-F30B91A11C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099"/>
            <a:stretch>
              <a:fillRect/>
            </a:stretch>
          </p:blipFill>
          <p:spPr bwMode="auto">
            <a:xfrm>
              <a:off x="7661299" y="2363763"/>
              <a:ext cx="4527042" cy="21304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7D62CD91-9D8A-E2F3-3260-76F0119160EC}"/>
                </a:ext>
              </a:extLst>
            </p:cNvPr>
            <p:cNvSpPr/>
            <p:nvPr/>
          </p:nvSpPr>
          <p:spPr>
            <a:xfrm>
              <a:off x="9954430" y="2981160"/>
              <a:ext cx="1764171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ES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Santiago </a:t>
              </a:r>
              <a:r>
                <a:rPr lang="es-ES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badi ExtraLight" panose="020B0204020104020204" pitchFamily="34" charset="0"/>
                </a:rPr>
                <a:t>Bellod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7EF6638C-3A5A-42E9-4F64-F74123CB09FC}"/>
                </a:ext>
              </a:extLst>
            </p:cNvPr>
            <p:cNvSpPr txBox="1"/>
            <p:nvPr/>
          </p:nvSpPr>
          <p:spPr>
            <a:xfrm>
              <a:off x="8964442" y="2631983"/>
              <a:ext cx="14271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Rubén </a:t>
              </a:r>
              <a:r>
                <a:rPr lang="es-E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badi ExtraLight" panose="020B0204020104020204" pitchFamily="34" charset="0"/>
                </a:rPr>
                <a:t>Díaz</a:t>
              </a:r>
              <a:endParaRPr lang="es-E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badi ExtraLight" panose="020B0204020104020204" pitchFamily="34" charset="0"/>
              </a:endParaRP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D734A2D7-E789-60B6-96ED-67C9FDEC9228}"/>
                </a:ext>
              </a:extLst>
            </p:cNvPr>
            <p:cNvSpPr txBox="1"/>
            <p:nvPr/>
          </p:nvSpPr>
          <p:spPr>
            <a:xfrm>
              <a:off x="8563377" y="2293295"/>
              <a:ext cx="33929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Bell MT" panose="02020503060305020303" pitchFamily="18" charset="0"/>
                </a:rPr>
                <a:t>Grupo 9:   </a:t>
              </a:r>
              <a:r>
                <a:rPr lang="es-E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Félix </a:t>
              </a:r>
              <a:r>
                <a:rPr lang="es-E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badi ExtraLight" panose="020B0204020104020204" pitchFamily="34" charset="0"/>
                </a:rPr>
                <a:t>Lorente-Bandrés</a:t>
              </a:r>
              <a:endParaRPr lang="es-E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badi ExtraLight" panose="020B0204020104020204" pitchFamily="34" charset="0"/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22CF6B3E-AAF6-63E3-DBD1-2B4CD0BD7F4A}"/>
                </a:ext>
              </a:extLst>
            </p:cNvPr>
            <p:cNvSpPr txBox="1"/>
            <p:nvPr/>
          </p:nvSpPr>
          <p:spPr>
            <a:xfrm>
              <a:off x="9995423" y="2631983"/>
              <a:ext cx="19608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Lucía </a:t>
              </a:r>
              <a:r>
                <a:rPr lang="es-ES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badi ExtraLight" panose="020B0204020104020204" pitchFamily="34" charset="0"/>
                </a:rPr>
                <a:t>Espuelas</a:t>
              </a: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6DE54C92-57CD-CEEA-6027-6ECD0792F0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3" r="6447" b="10245"/>
          <a:stretch>
            <a:fillRect/>
          </a:stretch>
        </p:blipFill>
        <p:spPr>
          <a:xfrm>
            <a:off x="201066" y="651741"/>
            <a:ext cx="7675872" cy="3660395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A6B3C1E8-182A-937C-09F8-CD3AAB72B2B5}"/>
              </a:ext>
            </a:extLst>
          </p:cNvPr>
          <p:cNvSpPr txBox="1"/>
          <p:nvPr/>
        </p:nvSpPr>
        <p:spPr>
          <a:xfrm>
            <a:off x="5991477" y="527987"/>
            <a:ext cx="5953248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r>
              <a:rPr lang="es-ES" sz="2000" b="1" dirty="0"/>
              <a:t>Tomando este artículo como referencia, trataremos de conectar el modelo con la realidad.</a:t>
            </a:r>
          </a:p>
        </p:txBody>
      </p:sp>
      <p:pic>
        <p:nvPicPr>
          <p:cNvPr id="18" name="Gráfico 17" descr="Conexiones contorno">
            <a:extLst>
              <a:ext uri="{FF2B5EF4-FFF2-40B4-BE49-F238E27FC236}">
                <a16:creationId xmlns:a16="http://schemas.microsoft.com/office/drawing/2014/main" id="{6267CCED-072C-3213-8FFF-E4801C1400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655337">
            <a:off x="144798" y="193432"/>
            <a:ext cx="1238491" cy="1238491"/>
          </a:xfrm>
          <a:prstGeom prst="rect">
            <a:avLst/>
          </a:prstGeom>
        </p:spPr>
      </p:pic>
      <p:pic>
        <p:nvPicPr>
          <p:cNvPr id="20" name="Gráfico 19" descr="Conexiones con relleno sólido">
            <a:extLst>
              <a:ext uri="{FF2B5EF4-FFF2-40B4-BE49-F238E27FC236}">
                <a16:creationId xmlns:a16="http://schemas.microsoft.com/office/drawing/2014/main" id="{8B7C1352-CAC3-9CF5-0107-04A18BAE1E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092446">
            <a:off x="1163348" y="107297"/>
            <a:ext cx="1142644" cy="1142644"/>
          </a:xfrm>
          <a:prstGeom prst="rect">
            <a:avLst/>
          </a:prstGeom>
        </p:spPr>
      </p:pic>
      <p:sp>
        <p:nvSpPr>
          <p:cNvPr id="32" name="Arco 31">
            <a:extLst>
              <a:ext uri="{FF2B5EF4-FFF2-40B4-BE49-F238E27FC236}">
                <a16:creationId xmlns:a16="http://schemas.microsoft.com/office/drawing/2014/main" id="{5FDEE00C-B14B-1D4F-A911-88BD855D9305}"/>
              </a:ext>
            </a:extLst>
          </p:cNvPr>
          <p:cNvSpPr/>
          <p:nvPr/>
        </p:nvSpPr>
        <p:spPr>
          <a:xfrm flipV="1">
            <a:off x="-432816" y="999743"/>
            <a:ext cx="2182368" cy="298957"/>
          </a:xfrm>
          <a:prstGeom prst="arc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Arco 32">
            <a:extLst>
              <a:ext uri="{FF2B5EF4-FFF2-40B4-BE49-F238E27FC236}">
                <a16:creationId xmlns:a16="http://schemas.microsoft.com/office/drawing/2014/main" id="{5AE10580-C765-489A-748E-99A836395DCE}"/>
              </a:ext>
            </a:extLst>
          </p:cNvPr>
          <p:cNvSpPr/>
          <p:nvPr/>
        </p:nvSpPr>
        <p:spPr>
          <a:xfrm flipV="1">
            <a:off x="481584" y="710235"/>
            <a:ext cx="1109472" cy="289505"/>
          </a:xfrm>
          <a:prstGeom prst="arc">
            <a:avLst>
              <a:gd name="adj1" fmla="val 16200000"/>
              <a:gd name="adj2" fmla="val 41038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Arco 34">
            <a:extLst>
              <a:ext uri="{FF2B5EF4-FFF2-40B4-BE49-F238E27FC236}">
                <a16:creationId xmlns:a16="http://schemas.microsoft.com/office/drawing/2014/main" id="{5479BED0-E2B4-DA85-B1E0-F2A4575027C0}"/>
              </a:ext>
            </a:extLst>
          </p:cNvPr>
          <p:cNvSpPr/>
          <p:nvPr/>
        </p:nvSpPr>
        <p:spPr>
          <a:xfrm>
            <a:off x="950976" y="322619"/>
            <a:ext cx="323088" cy="109596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FB5860-6716-0EF8-FD30-5DC20FF545C4}"/>
              </a:ext>
            </a:extLst>
          </p:cNvPr>
          <p:cNvSpPr txBox="1"/>
          <p:nvPr/>
        </p:nvSpPr>
        <p:spPr>
          <a:xfrm>
            <a:off x="8117963" y="1429046"/>
            <a:ext cx="4113995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900" b="1" dirty="0">
                <a:solidFill>
                  <a:schemeClr val="accent1"/>
                </a:solidFill>
              </a:rPr>
              <a:t>Modelo: </a:t>
            </a:r>
            <a:r>
              <a:rPr lang="es-ES" sz="1900" dirty="0">
                <a:solidFill>
                  <a:schemeClr val="accent1"/>
                </a:solidFill>
              </a:rPr>
              <a:t>Dos juegos evolutivos diferentes pero simultáneos.</a:t>
            </a:r>
          </a:p>
          <a:p>
            <a:r>
              <a:rPr lang="es-ES" sz="1900" b="1" dirty="0">
                <a:solidFill>
                  <a:schemeClr val="accent1"/>
                </a:solidFill>
              </a:rPr>
              <a:t>Miembros de una misma mafia </a:t>
            </a:r>
            <a:r>
              <a:rPr lang="es-ES" sz="1900" dirty="0">
                <a:solidFill>
                  <a:schemeClr val="accent1"/>
                </a:solidFill>
              </a:rPr>
              <a:t>juegan al </a:t>
            </a:r>
            <a:r>
              <a:rPr lang="es-ES" sz="1900" i="1" dirty="0">
                <a:solidFill>
                  <a:schemeClr val="accent1"/>
                </a:solidFill>
              </a:rPr>
              <a:t>Dilema del Prisionero </a:t>
            </a:r>
            <a:r>
              <a:rPr lang="es-ES" sz="1900" dirty="0">
                <a:solidFill>
                  <a:schemeClr val="accent1"/>
                </a:solidFill>
              </a:rPr>
              <a:t>entre ellos (desertar es la estrategia ganadora), mientras que </a:t>
            </a:r>
            <a:r>
              <a:rPr lang="es-ES" sz="1900" b="1" dirty="0">
                <a:solidFill>
                  <a:schemeClr val="accent1"/>
                </a:solidFill>
              </a:rPr>
              <a:t>miembros de mafias rivales </a:t>
            </a:r>
            <a:r>
              <a:rPr lang="es-ES" sz="1900" dirty="0">
                <a:solidFill>
                  <a:schemeClr val="accent1"/>
                </a:solidFill>
              </a:rPr>
              <a:t>juegan al </a:t>
            </a:r>
            <a:r>
              <a:rPr lang="es-ES" sz="1900" i="1" dirty="0">
                <a:solidFill>
                  <a:schemeClr val="accent1"/>
                </a:solidFill>
              </a:rPr>
              <a:t>Halcón-Paloma</a:t>
            </a:r>
            <a:r>
              <a:rPr lang="es-ES" sz="1900" dirty="0">
                <a:solidFill>
                  <a:schemeClr val="accent1"/>
                </a:solidFill>
              </a:rPr>
              <a:t> (equilibrando la balanza hacia la cooperación).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84C0F471-8A10-83F2-2340-B495C5740419}"/>
              </a:ext>
            </a:extLst>
          </p:cNvPr>
          <p:cNvCxnSpPr/>
          <p:nvPr/>
        </p:nvCxnSpPr>
        <p:spPr>
          <a:xfrm>
            <a:off x="7957961" y="1179865"/>
            <a:ext cx="0" cy="36344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D4603A2-AAC5-5525-EE12-837451BE0C0D}"/>
              </a:ext>
            </a:extLst>
          </p:cNvPr>
          <p:cNvCxnSpPr>
            <a:cxnSpLocks/>
          </p:cNvCxnSpPr>
          <p:nvPr/>
        </p:nvCxnSpPr>
        <p:spPr>
          <a:xfrm>
            <a:off x="7664958" y="4312136"/>
            <a:ext cx="4527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42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118</Words>
  <Application>Microsoft Office PowerPoint</Application>
  <PresentationFormat>Panorámica</PresentationFormat>
  <Paragraphs>15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Abadi ExtraLight</vt:lpstr>
      <vt:lpstr>Algerian</vt:lpstr>
      <vt:lpstr>Aptos</vt:lpstr>
      <vt:lpstr>Aptos Display</vt:lpstr>
      <vt:lpstr>Arial</vt:lpstr>
      <vt:lpstr>Bell MT</vt:lpstr>
      <vt:lpstr>Tema de Office</vt:lpstr>
      <vt:lpstr>Guerra de Mafias</vt:lpstr>
      <vt:lpstr>Guerra de Mafias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 Bellod Torralba</dc:creator>
  <cp:lastModifiedBy>Santiago  Bellod Torralba</cp:lastModifiedBy>
  <cp:revision>5</cp:revision>
  <dcterms:created xsi:type="dcterms:W3CDTF">2026-05-01T11:30:46Z</dcterms:created>
  <dcterms:modified xsi:type="dcterms:W3CDTF">2026-05-01T12:49:31Z</dcterms:modified>
</cp:coreProperties>
</file>